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Lst>
  <p:sldIdLst>
    <p:sldId id="256" r:id="rId2"/>
    <p:sldId id="257" r:id="rId3"/>
    <p:sldId id="258" r:id="rId4"/>
    <p:sldId id="259" r:id="rId5"/>
    <p:sldId id="260" r:id="rId6"/>
    <p:sldId id="272" r:id="rId7"/>
    <p:sldId id="271" r:id="rId8"/>
    <p:sldId id="261" r:id="rId9"/>
    <p:sldId id="262" r:id="rId10"/>
    <p:sldId id="263" r:id="rId11"/>
    <p:sldId id="264" r:id="rId12"/>
    <p:sldId id="273" r:id="rId13"/>
    <p:sldId id="270"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445" autoAdjust="0"/>
    <p:restoredTop sz="94660"/>
  </p:normalViewPr>
  <p:slideViewPr>
    <p:cSldViewPr snapToGrid="0">
      <p:cViewPr varScale="1">
        <p:scale>
          <a:sx n="105" d="100"/>
          <a:sy n="105" d="100"/>
        </p:scale>
        <p:origin x="103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11/14/2025</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9736679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11/14/2025</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1728475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11/14/2025</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85267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11/14/2025</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6833322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11/14/2025</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3947170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11/14/2025</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0807880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11/14/2025</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2500835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11/14/2025</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9391159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11/14/2025</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8621680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11/14/2025</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2376160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11/14/2025</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138808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11/14/2025</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47472903"/>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66" r:id="rId6"/>
    <p:sldLayoutId id="2147483662" r:id="rId7"/>
    <p:sldLayoutId id="2147483663" r:id="rId8"/>
    <p:sldLayoutId id="2147483664" r:id="rId9"/>
    <p:sldLayoutId id="2147483665" r:id="rId10"/>
    <p:sldLayoutId id="2147483667" r:id="rId11"/>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C8E60F-171E-ADEA-BE2E-7ADDD5013524}"/>
              </a:ext>
            </a:extLst>
          </p:cNvPr>
          <p:cNvSpPr>
            <a:spLocks noGrp="1"/>
          </p:cNvSpPr>
          <p:nvPr>
            <p:ph type="ctrTitle"/>
          </p:nvPr>
        </p:nvSpPr>
        <p:spPr>
          <a:xfrm>
            <a:off x="7537528" y="1032764"/>
            <a:ext cx="4308672" cy="3224045"/>
          </a:xfrm>
        </p:spPr>
        <p:txBody>
          <a:bodyPr anchor="b">
            <a:normAutofit/>
          </a:bodyPr>
          <a:lstStyle/>
          <a:p>
            <a:r>
              <a:rPr lang="en-IN" b="0" dirty="0"/>
              <a:t>Emoji-Based Text Compression</a:t>
            </a:r>
            <a:endParaRPr lang="en-IN"/>
          </a:p>
        </p:txBody>
      </p:sp>
      <p:sp>
        <p:nvSpPr>
          <p:cNvPr id="3" name="Subtitle 2">
            <a:extLst>
              <a:ext uri="{FF2B5EF4-FFF2-40B4-BE49-F238E27FC236}">
                <a16:creationId xmlns:a16="http://schemas.microsoft.com/office/drawing/2014/main" id="{B160E5DA-9459-93AD-7F6B-8BB768F908A0}"/>
              </a:ext>
            </a:extLst>
          </p:cNvPr>
          <p:cNvSpPr>
            <a:spLocks noGrp="1"/>
          </p:cNvSpPr>
          <p:nvPr>
            <p:ph type="subTitle" idx="1"/>
          </p:nvPr>
        </p:nvSpPr>
        <p:spPr>
          <a:xfrm>
            <a:off x="7535756" y="5046281"/>
            <a:ext cx="4308672" cy="1172408"/>
          </a:xfrm>
        </p:spPr>
        <p:txBody>
          <a:bodyPr anchor="t">
            <a:normAutofit/>
          </a:bodyPr>
          <a:lstStyle/>
          <a:p>
            <a:pPr>
              <a:lnSpc>
                <a:spcPct val="120000"/>
              </a:lnSpc>
            </a:pPr>
            <a:r>
              <a:rPr lang="en-US" sz="1100" b="0"/>
              <a:t>A Novel Approach for Conversational Chat Compression</a:t>
            </a:r>
          </a:p>
          <a:p>
            <a:pPr>
              <a:lnSpc>
                <a:spcPct val="120000"/>
              </a:lnSpc>
            </a:pPr>
            <a:br>
              <a:rPr lang="en-US" sz="1100"/>
            </a:br>
            <a:endParaRPr lang="en-IN" sz="1100"/>
          </a:p>
        </p:txBody>
      </p:sp>
      <p:pic>
        <p:nvPicPr>
          <p:cNvPr id="13" name="Picture 12">
            <a:extLst>
              <a:ext uri="{FF2B5EF4-FFF2-40B4-BE49-F238E27FC236}">
                <a16:creationId xmlns:a16="http://schemas.microsoft.com/office/drawing/2014/main" id="{559367EE-9BAD-63F1-6F64-0593CC9B142C}"/>
              </a:ext>
            </a:extLst>
          </p:cNvPr>
          <p:cNvPicPr>
            <a:picLocks noChangeAspect="1"/>
          </p:cNvPicPr>
          <p:nvPr/>
        </p:nvPicPr>
        <p:blipFill>
          <a:blip r:embed="rId2"/>
          <a:srcRect r="43150"/>
          <a:stretch>
            <a:fillRect/>
          </a:stretch>
        </p:blipFill>
        <p:spPr>
          <a:xfrm>
            <a:off x="20" y="10"/>
            <a:ext cx="6931132" cy="6857990"/>
          </a:xfrm>
          <a:prstGeom prst="rect">
            <a:avLst/>
          </a:prstGeom>
        </p:spPr>
      </p:pic>
      <p:cxnSp>
        <p:nvCxnSpPr>
          <p:cNvPr id="19" name="Straight Connector 18">
            <a:extLst>
              <a:ext uri="{FF2B5EF4-FFF2-40B4-BE49-F238E27FC236}">
                <a16:creationId xmlns:a16="http://schemas.microsoft.com/office/drawing/2014/main" id="{6CA391F1-4B2C-521B-F6A5-52C74B3034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675848" y="4711579"/>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22456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10" presetClass="entr" presetSubtype="0" fill="hold" grpId="0" nodeType="withEffect">
                                  <p:stCondLst>
                                    <p:cond delay="1500"/>
                                  </p:stCondLst>
                                  <p:iterate>
                                    <p:tmPct val="10000"/>
                                  </p:iterate>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7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FC0B2-ABA9-F148-2450-4A318D6722A6}"/>
              </a:ext>
            </a:extLst>
          </p:cNvPr>
          <p:cNvSpPr>
            <a:spLocks noGrp="1"/>
          </p:cNvSpPr>
          <p:nvPr>
            <p:ph type="title"/>
          </p:nvPr>
        </p:nvSpPr>
        <p:spPr>
          <a:solidFill>
            <a:schemeClr val="accent1"/>
          </a:solidFill>
        </p:spPr>
        <p:txBody>
          <a:bodyPr>
            <a:normAutofit fontScale="90000"/>
          </a:bodyPr>
          <a:lstStyle/>
          <a:p>
            <a:r>
              <a:rPr lang="en-IN" dirty="0">
                <a:solidFill>
                  <a:schemeClr val="bg1"/>
                </a:solidFill>
              </a:rPr>
              <a:t>Abstract</a:t>
            </a:r>
            <a:br>
              <a:rPr lang="en-IN" dirty="0"/>
            </a:br>
            <a:endParaRPr lang="en-IN" dirty="0"/>
          </a:p>
        </p:txBody>
      </p:sp>
      <p:sp>
        <p:nvSpPr>
          <p:cNvPr id="3" name="TextBox 2">
            <a:extLst>
              <a:ext uri="{FF2B5EF4-FFF2-40B4-BE49-F238E27FC236}">
                <a16:creationId xmlns:a16="http://schemas.microsoft.com/office/drawing/2014/main" id="{439452B0-B097-FE0C-B550-BB3CCD5830EA}"/>
              </a:ext>
            </a:extLst>
          </p:cNvPr>
          <p:cNvSpPr txBox="1"/>
          <p:nvPr/>
        </p:nvSpPr>
        <p:spPr>
          <a:xfrm>
            <a:off x="640079" y="2880360"/>
            <a:ext cx="10890929" cy="2031325"/>
          </a:xfrm>
          <a:prstGeom prst="rect">
            <a:avLst/>
          </a:prstGeom>
          <a:noFill/>
        </p:spPr>
        <p:txBody>
          <a:bodyPr wrap="square" rtlCol="0">
            <a:spAutoFit/>
          </a:bodyPr>
          <a:lstStyle/>
          <a:p>
            <a:pPr marL="285750" indent="-285750">
              <a:buFont typeface="Arial" panose="020B0604020202020204" pitchFamily="34" charset="0"/>
              <a:buChar char="•"/>
            </a:pPr>
            <a:r>
              <a:rPr lang="en-US" dirty="0"/>
              <a:t>This project introduces an efficient, human-readable text compression method for chat messages.</a:t>
            </a:r>
          </a:p>
          <a:p>
            <a:pPr marL="285750" indent="-285750">
              <a:buFont typeface="Arial" panose="020B0604020202020204" pitchFamily="34" charset="0"/>
              <a:buChar char="•"/>
            </a:pPr>
            <a:r>
              <a:rPr lang="en-US" dirty="0"/>
              <a:t>Leverages a combination of a manually crafted seed dictionary and a dynamic, data-driven dictionary to substitute frequent phrases with emoji representations.</a:t>
            </a:r>
          </a:p>
          <a:p>
            <a:pPr marL="285750" indent="-285750">
              <a:buFont typeface="Arial" panose="020B0604020202020204" pitchFamily="34" charset="0"/>
              <a:buChar char="•"/>
            </a:pPr>
            <a:r>
              <a:rPr lang="en-US" dirty="0"/>
              <a:t>Reduces storage and transmission costs while ensuring chat remains interpretable and fully reversible.</a:t>
            </a:r>
          </a:p>
          <a:p>
            <a:pPr marL="285750" indent="-285750">
              <a:buFont typeface="Arial" panose="020B0604020202020204" pitchFamily="34" charset="0"/>
              <a:buChar char="•"/>
            </a:pPr>
            <a:r>
              <a:rPr lang="en-US" dirty="0"/>
              <a:t>Demonstrates substantial compression ratio improvement over traditional algorithms for chat-centric datasets.</a:t>
            </a:r>
          </a:p>
          <a:p>
            <a:endParaRPr lang="en-IN" dirty="0"/>
          </a:p>
        </p:txBody>
      </p:sp>
    </p:spTree>
    <p:extLst>
      <p:ext uri="{BB962C8B-B14F-4D97-AF65-F5344CB8AC3E}">
        <p14:creationId xmlns:p14="http://schemas.microsoft.com/office/powerpoint/2010/main" val="36485068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FEF47B-DFB4-8E27-E87C-8CD70CB65A98}"/>
              </a:ext>
            </a:extLst>
          </p:cNvPr>
          <p:cNvSpPr>
            <a:spLocks noGrp="1"/>
          </p:cNvSpPr>
          <p:nvPr>
            <p:ph type="title"/>
          </p:nvPr>
        </p:nvSpPr>
        <p:spPr>
          <a:solidFill>
            <a:schemeClr val="accent1"/>
          </a:solidFill>
        </p:spPr>
        <p:txBody>
          <a:bodyPr>
            <a:normAutofit fontScale="90000"/>
          </a:bodyPr>
          <a:lstStyle/>
          <a:p>
            <a:r>
              <a:rPr lang="en-IN" b="0" dirty="0">
                <a:solidFill>
                  <a:schemeClr val="bg1"/>
                </a:solidFill>
              </a:rPr>
              <a:t>Problem Description</a:t>
            </a:r>
            <a:br>
              <a:rPr lang="en-IN" b="0" dirty="0"/>
            </a:br>
            <a:endParaRPr lang="en-IN" dirty="0"/>
          </a:p>
        </p:txBody>
      </p:sp>
      <p:sp>
        <p:nvSpPr>
          <p:cNvPr id="3" name="TextBox 2">
            <a:extLst>
              <a:ext uri="{FF2B5EF4-FFF2-40B4-BE49-F238E27FC236}">
                <a16:creationId xmlns:a16="http://schemas.microsoft.com/office/drawing/2014/main" id="{F94E6D77-C9F7-21E3-F6C4-B1815A42892E}"/>
              </a:ext>
            </a:extLst>
          </p:cNvPr>
          <p:cNvSpPr txBox="1"/>
          <p:nvPr/>
        </p:nvSpPr>
        <p:spPr>
          <a:xfrm>
            <a:off x="704088" y="2898648"/>
            <a:ext cx="10680192" cy="2031325"/>
          </a:xfrm>
          <a:prstGeom prst="rect">
            <a:avLst/>
          </a:prstGeom>
          <a:noFill/>
        </p:spPr>
        <p:txBody>
          <a:bodyPr wrap="square" rtlCol="0">
            <a:spAutoFit/>
          </a:bodyPr>
          <a:lstStyle/>
          <a:p>
            <a:pPr marL="285750" indent="-285750">
              <a:buFont typeface="Arial" panose="020B0604020202020204" pitchFamily="34" charset="0"/>
              <a:buChar char="•"/>
            </a:pPr>
            <a:r>
              <a:rPr lang="en-US" dirty="0"/>
              <a:t>Rapid growth in chat-based communication leads to massive text data needing efficient storage and transmission.</a:t>
            </a:r>
          </a:p>
          <a:p>
            <a:pPr marL="285750" indent="-285750">
              <a:buFont typeface="Arial" panose="020B0604020202020204" pitchFamily="34" charset="0"/>
              <a:buChar char="•"/>
            </a:pPr>
            <a:r>
              <a:rPr lang="en-US" dirty="0"/>
              <a:t>Traditional compression (e.g., Huffman, LZW) works at the character level and loses human interpretability.</a:t>
            </a:r>
          </a:p>
          <a:p>
            <a:pPr marL="285750" indent="-285750">
              <a:buFont typeface="Arial" panose="020B0604020202020204" pitchFamily="34" charset="0"/>
              <a:buChar char="•"/>
            </a:pPr>
            <a:r>
              <a:rPr lang="en-US" dirty="0"/>
              <a:t>Need for a method that compresses repetitive, semantically rich chat without sacrificing readability.</a:t>
            </a:r>
          </a:p>
          <a:p>
            <a:pPr marL="285750" indent="-285750">
              <a:buFont typeface="Arial" panose="020B0604020202020204" pitchFamily="34" charset="0"/>
              <a:buChar char="•"/>
            </a:pPr>
            <a:r>
              <a:rPr lang="en-US" dirty="0"/>
              <a:t>Goal: Compress frequent conversational patterns into compact, transparent emoji tokens.</a:t>
            </a:r>
          </a:p>
          <a:p>
            <a:endParaRPr lang="en-IN" dirty="0"/>
          </a:p>
        </p:txBody>
      </p:sp>
    </p:spTree>
    <p:extLst>
      <p:ext uri="{BB962C8B-B14F-4D97-AF65-F5344CB8AC3E}">
        <p14:creationId xmlns:p14="http://schemas.microsoft.com/office/powerpoint/2010/main" val="30488333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9C33A-1739-0035-B2A4-7C7C857A773C}"/>
              </a:ext>
            </a:extLst>
          </p:cNvPr>
          <p:cNvSpPr>
            <a:spLocks noGrp="1"/>
          </p:cNvSpPr>
          <p:nvPr>
            <p:ph type="title"/>
          </p:nvPr>
        </p:nvSpPr>
        <p:spPr>
          <a:solidFill>
            <a:schemeClr val="accent1"/>
          </a:solidFill>
        </p:spPr>
        <p:txBody>
          <a:bodyPr>
            <a:normAutofit fontScale="90000"/>
          </a:bodyPr>
          <a:lstStyle/>
          <a:p>
            <a:r>
              <a:rPr lang="en-IN" b="0" dirty="0">
                <a:solidFill>
                  <a:schemeClr val="bg1"/>
                </a:solidFill>
              </a:rPr>
              <a:t>Scope</a:t>
            </a:r>
            <a:br>
              <a:rPr lang="en-IN" b="0" dirty="0"/>
            </a:br>
            <a:endParaRPr lang="en-IN" dirty="0"/>
          </a:p>
        </p:txBody>
      </p:sp>
      <p:sp>
        <p:nvSpPr>
          <p:cNvPr id="3" name="TextBox 2">
            <a:extLst>
              <a:ext uri="{FF2B5EF4-FFF2-40B4-BE49-F238E27FC236}">
                <a16:creationId xmlns:a16="http://schemas.microsoft.com/office/drawing/2014/main" id="{21B4DD18-C9EF-68E6-6B70-D49CAB07F4E0}"/>
              </a:ext>
            </a:extLst>
          </p:cNvPr>
          <p:cNvSpPr txBox="1"/>
          <p:nvPr/>
        </p:nvSpPr>
        <p:spPr>
          <a:xfrm>
            <a:off x="685800" y="2898648"/>
            <a:ext cx="10844784" cy="1754326"/>
          </a:xfrm>
          <a:prstGeom prst="rect">
            <a:avLst/>
          </a:prstGeom>
          <a:noFill/>
        </p:spPr>
        <p:txBody>
          <a:bodyPr wrap="square" rtlCol="0">
            <a:spAutoFit/>
          </a:bodyPr>
          <a:lstStyle/>
          <a:p>
            <a:pPr marL="285750" indent="-285750">
              <a:buFont typeface="Arial" panose="020B0604020202020204" pitchFamily="34" charset="0"/>
              <a:buChar char="•"/>
            </a:pPr>
            <a:r>
              <a:rPr lang="en-IN" dirty="0"/>
              <a:t>Develop a hybrid emoji-based compression framework for conversational text data.</a:t>
            </a:r>
          </a:p>
          <a:p>
            <a:pPr marL="285750" indent="-285750">
              <a:buFont typeface="Arial" panose="020B0604020202020204" pitchFamily="34" charset="0"/>
              <a:buChar char="•"/>
            </a:pPr>
            <a:r>
              <a:rPr lang="en-IN" dirty="0"/>
              <a:t>Achieve high compression ratios while retaining or improving interpretability.</a:t>
            </a:r>
          </a:p>
          <a:p>
            <a:pPr marL="285750" indent="-285750">
              <a:buFont typeface="Arial" panose="020B0604020202020204" pitchFamily="34" charset="0"/>
              <a:buChar char="•"/>
            </a:pPr>
            <a:r>
              <a:rPr lang="en-IN" dirty="0"/>
              <a:t>Automate the discovery of dataset-specific phrases for adaptive compression.</a:t>
            </a:r>
          </a:p>
          <a:p>
            <a:pPr marL="285750" indent="-285750">
              <a:buFont typeface="Arial" panose="020B0604020202020204" pitchFamily="34" charset="0"/>
              <a:buChar char="•"/>
            </a:pPr>
            <a:r>
              <a:rPr lang="en-IN" dirty="0"/>
              <a:t>Compare performance and usability with existing character-based models.</a:t>
            </a:r>
          </a:p>
          <a:p>
            <a:pPr marL="285750" indent="-285750">
              <a:buFont typeface="Arial" panose="020B0604020202020204" pitchFamily="34" charset="0"/>
              <a:buChar char="•"/>
            </a:pPr>
            <a:r>
              <a:rPr lang="en-IN" dirty="0"/>
              <a:t>Ensure perfect reversibility (lossless decompression)</a:t>
            </a:r>
          </a:p>
          <a:p>
            <a:endParaRPr lang="en-IN" dirty="0"/>
          </a:p>
        </p:txBody>
      </p:sp>
    </p:spTree>
    <p:extLst>
      <p:ext uri="{BB962C8B-B14F-4D97-AF65-F5344CB8AC3E}">
        <p14:creationId xmlns:p14="http://schemas.microsoft.com/office/powerpoint/2010/main" val="37865381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79A89-F59E-5460-EED1-C9E4AA7C01FF}"/>
              </a:ext>
            </a:extLst>
          </p:cNvPr>
          <p:cNvSpPr>
            <a:spLocks noGrp="1"/>
          </p:cNvSpPr>
          <p:nvPr>
            <p:ph type="title"/>
          </p:nvPr>
        </p:nvSpPr>
        <p:spPr>
          <a:solidFill>
            <a:schemeClr val="accent1"/>
          </a:solidFill>
        </p:spPr>
        <p:txBody>
          <a:bodyPr>
            <a:normAutofit fontScale="90000"/>
          </a:bodyPr>
          <a:lstStyle/>
          <a:p>
            <a:r>
              <a:rPr lang="en-IN" b="0" dirty="0">
                <a:solidFill>
                  <a:schemeClr val="bg1"/>
                </a:solidFill>
              </a:rPr>
              <a:t>Objectives</a:t>
            </a:r>
            <a:br>
              <a:rPr lang="en-IN" b="0" dirty="0"/>
            </a:br>
            <a:endParaRPr lang="en-IN" dirty="0"/>
          </a:p>
        </p:txBody>
      </p:sp>
      <p:sp>
        <p:nvSpPr>
          <p:cNvPr id="3" name="TextBox 2">
            <a:extLst>
              <a:ext uri="{FF2B5EF4-FFF2-40B4-BE49-F238E27FC236}">
                <a16:creationId xmlns:a16="http://schemas.microsoft.com/office/drawing/2014/main" id="{3E44DC96-3E10-DE7B-094A-5FB67F772ECF}"/>
              </a:ext>
            </a:extLst>
          </p:cNvPr>
          <p:cNvSpPr txBox="1"/>
          <p:nvPr/>
        </p:nvSpPr>
        <p:spPr>
          <a:xfrm>
            <a:off x="640079" y="2807208"/>
            <a:ext cx="10890929" cy="1754326"/>
          </a:xfrm>
          <a:prstGeom prst="rect">
            <a:avLst/>
          </a:prstGeom>
          <a:noFill/>
        </p:spPr>
        <p:txBody>
          <a:bodyPr wrap="square" rtlCol="0">
            <a:spAutoFit/>
          </a:bodyPr>
          <a:lstStyle/>
          <a:p>
            <a:pPr marL="285750" indent="-285750">
              <a:buFont typeface="Arial" panose="020B0604020202020204" pitchFamily="34" charset="0"/>
              <a:buChar char="•"/>
            </a:pPr>
            <a:r>
              <a:rPr lang="en-US" b="1" dirty="0"/>
              <a:t>Accuracy: </a:t>
            </a:r>
            <a:r>
              <a:rPr lang="en-US" dirty="0"/>
              <a:t>Maximal phrase coverage with minimal loss in decompression fidelity.</a:t>
            </a:r>
          </a:p>
          <a:p>
            <a:pPr marL="285750" indent="-285750">
              <a:buFont typeface="Arial" panose="020B0604020202020204" pitchFamily="34" charset="0"/>
              <a:buChar char="•"/>
            </a:pPr>
            <a:r>
              <a:rPr lang="en-US" b="1" dirty="0"/>
              <a:t>Usability:</a:t>
            </a:r>
            <a:r>
              <a:rPr lang="en-US" dirty="0"/>
              <a:t> Output must be intuitive, readable, and compatible with chat interfaces.</a:t>
            </a:r>
          </a:p>
          <a:p>
            <a:pPr marL="285750" indent="-285750">
              <a:buFont typeface="Arial" panose="020B0604020202020204" pitchFamily="34" charset="0"/>
              <a:buChar char="•"/>
            </a:pPr>
            <a:r>
              <a:rPr lang="en-US" b="1" dirty="0"/>
              <a:t>Efficiency: </a:t>
            </a:r>
            <a:r>
              <a:rPr lang="en-US" dirty="0"/>
              <a:t>Compression and decompression run in real-time for live chat archives.</a:t>
            </a:r>
          </a:p>
          <a:p>
            <a:pPr marL="285750" indent="-285750">
              <a:buFont typeface="Arial" panose="020B0604020202020204" pitchFamily="34" charset="0"/>
              <a:buChar char="•"/>
            </a:pPr>
            <a:r>
              <a:rPr lang="en-US" b="1" dirty="0"/>
              <a:t>Adaptability: </a:t>
            </a:r>
            <a:r>
              <a:rPr lang="en-US" dirty="0"/>
              <a:t>System dynamically extends emoji mappings for different datasets.</a:t>
            </a:r>
          </a:p>
          <a:p>
            <a:pPr marL="285750" indent="-285750">
              <a:buFont typeface="Arial" panose="020B0604020202020204" pitchFamily="34" charset="0"/>
              <a:buChar char="•"/>
            </a:pPr>
            <a:r>
              <a:rPr lang="en-US" b="1" dirty="0"/>
              <a:t>Maintainability:</a:t>
            </a:r>
            <a:r>
              <a:rPr lang="en-US" dirty="0"/>
              <a:t> Easy update of dictionaries and extension to new language domains.</a:t>
            </a:r>
          </a:p>
          <a:p>
            <a:endParaRPr lang="en-IN" dirty="0"/>
          </a:p>
        </p:txBody>
      </p:sp>
    </p:spTree>
    <p:extLst>
      <p:ext uri="{BB962C8B-B14F-4D97-AF65-F5344CB8AC3E}">
        <p14:creationId xmlns:p14="http://schemas.microsoft.com/office/powerpoint/2010/main" val="24033633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A7BD7-6646-1C40-1689-6CA683306A74}"/>
              </a:ext>
            </a:extLst>
          </p:cNvPr>
          <p:cNvSpPr>
            <a:spLocks noGrp="1"/>
          </p:cNvSpPr>
          <p:nvPr>
            <p:ph type="title"/>
          </p:nvPr>
        </p:nvSpPr>
        <p:spPr>
          <a:solidFill>
            <a:schemeClr val="accent1"/>
          </a:solidFill>
        </p:spPr>
        <p:txBody>
          <a:bodyPr>
            <a:normAutofit fontScale="90000"/>
          </a:bodyPr>
          <a:lstStyle/>
          <a:p>
            <a:r>
              <a:rPr lang="en-IN" b="0" dirty="0">
                <a:solidFill>
                  <a:schemeClr val="bg1"/>
                </a:solidFill>
              </a:rPr>
              <a:t>Methodology/Algorithm</a:t>
            </a:r>
            <a:br>
              <a:rPr lang="en-IN" b="0" dirty="0"/>
            </a:br>
            <a:endParaRPr lang="en-IN" dirty="0"/>
          </a:p>
        </p:txBody>
      </p:sp>
      <p:sp>
        <p:nvSpPr>
          <p:cNvPr id="3" name="TextBox 2">
            <a:extLst>
              <a:ext uri="{FF2B5EF4-FFF2-40B4-BE49-F238E27FC236}">
                <a16:creationId xmlns:a16="http://schemas.microsoft.com/office/drawing/2014/main" id="{4ADB9DA9-ADED-CB9D-14E3-5A1F09540E43}"/>
              </a:ext>
            </a:extLst>
          </p:cNvPr>
          <p:cNvSpPr txBox="1"/>
          <p:nvPr/>
        </p:nvSpPr>
        <p:spPr>
          <a:xfrm>
            <a:off x="640079" y="2843784"/>
            <a:ext cx="10890929" cy="1754326"/>
          </a:xfrm>
          <a:prstGeom prst="rect">
            <a:avLst/>
          </a:prstGeom>
          <a:noFill/>
        </p:spPr>
        <p:txBody>
          <a:bodyPr wrap="square" rtlCol="0">
            <a:spAutoFit/>
          </a:bodyPr>
          <a:lstStyle/>
          <a:p>
            <a:pPr marL="285750" indent="-285750">
              <a:buFont typeface="Arial" panose="020B0604020202020204" pitchFamily="34" charset="0"/>
              <a:buChar char="•"/>
            </a:pPr>
            <a:r>
              <a:rPr lang="en-US" dirty="0"/>
              <a:t>Seed Dictionary: Manually constructs phrase-to-emoji mapping for frequent phrases.</a:t>
            </a:r>
          </a:p>
          <a:p>
            <a:pPr marL="285750" indent="-285750">
              <a:buFont typeface="Arial" panose="020B0604020202020204" pitchFamily="34" charset="0"/>
              <a:buChar char="•"/>
            </a:pPr>
            <a:r>
              <a:rPr lang="en-US" dirty="0"/>
              <a:t>Dynamic Dictionary: Automatically mines high-frequency n-grams and assigns unused emojis.</a:t>
            </a:r>
          </a:p>
          <a:p>
            <a:pPr marL="285750" indent="-285750">
              <a:buFont typeface="Arial" panose="020B0604020202020204" pitchFamily="34" charset="0"/>
              <a:buChar char="•"/>
            </a:pPr>
            <a:r>
              <a:rPr lang="en-US" dirty="0"/>
              <a:t>Compression Step: Applies both dictionaries, longest match first, for maximal substitution.</a:t>
            </a:r>
          </a:p>
          <a:p>
            <a:pPr marL="285750" indent="-285750">
              <a:buFont typeface="Arial" panose="020B0604020202020204" pitchFamily="34" charset="0"/>
              <a:buChar char="•"/>
            </a:pPr>
            <a:r>
              <a:rPr lang="en-US" dirty="0"/>
              <a:t>Decompression: Performs reverse lookup from emojis/tokens to original phrases.</a:t>
            </a:r>
          </a:p>
          <a:p>
            <a:pPr marL="285750" indent="-285750">
              <a:buFont typeface="Arial" panose="020B0604020202020204" pitchFamily="34" charset="0"/>
              <a:buChar char="•"/>
            </a:pPr>
            <a:r>
              <a:rPr lang="en-US" i="1" dirty="0"/>
              <a:t>Mathematical Operations</a:t>
            </a:r>
            <a:r>
              <a:rPr lang="en-US" dirty="0"/>
              <a:t>: Phrase frequency analysis, mapping application, sequential substitution.</a:t>
            </a:r>
          </a:p>
          <a:p>
            <a:endParaRPr lang="en-IN" dirty="0"/>
          </a:p>
        </p:txBody>
      </p:sp>
    </p:spTree>
    <p:extLst>
      <p:ext uri="{BB962C8B-B14F-4D97-AF65-F5344CB8AC3E}">
        <p14:creationId xmlns:p14="http://schemas.microsoft.com/office/powerpoint/2010/main" val="10521230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7" name="Straight Connector 16">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9" name="Rectangle 18">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D610F07-723B-9478-2C2A-9B0DC831A4E8}"/>
              </a:ext>
            </a:extLst>
          </p:cNvPr>
          <p:cNvSpPr>
            <a:spLocks noGrp="1"/>
          </p:cNvSpPr>
          <p:nvPr>
            <p:ph type="title"/>
          </p:nvPr>
        </p:nvSpPr>
        <p:spPr>
          <a:xfrm>
            <a:off x="2580442" y="4474103"/>
            <a:ext cx="7031117" cy="933905"/>
          </a:xfrm>
        </p:spPr>
        <p:txBody>
          <a:bodyPr vert="horz" lIns="91440" tIns="45720" rIns="91440" bIns="45720" rtlCol="0" anchor="b">
            <a:normAutofit/>
          </a:bodyPr>
          <a:lstStyle/>
          <a:p>
            <a:pPr algn="ctr"/>
            <a:r>
              <a:rPr lang="en-US" sz="4400"/>
              <a:t>Architecture Diagram</a:t>
            </a:r>
          </a:p>
        </p:txBody>
      </p:sp>
      <p:pic>
        <p:nvPicPr>
          <p:cNvPr id="5" name="Picture 4">
            <a:extLst>
              <a:ext uri="{FF2B5EF4-FFF2-40B4-BE49-F238E27FC236}">
                <a16:creationId xmlns:a16="http://schemas.microsoft.com/office/drawing/2014/main" id="{CD29B2B4-80D9-4696-0CFC-0C4C19D979EC}"/>
              </a:ext>
            </a:extLst>
          </p:cNvPr>
          <p:cNvPicPr>
            <a:picLocks noChangeAspect="1"/>
          </p:cNvPicPr>
          <p:nvPr/>
        </p:nvPicPr>
        <p:blipFill>
          <a:blip r:embed="rId2"/>
          <a:stretch>
            <a:fillRect/>
          </a:stretch>
        </p:blipFill>
        <p:spPr>
          <a:xfrm>
            <a:off x="2285999" y="466732"/>
            <a:ext cx="7648575" cy="3842148"/>
          </a:xfrm>
          <a:prstGeom prst="rect">
            <a:avLst/>
          </a:prstGeom>
        </p:spPr>
      </p:pic>
      <p:cxnSp>
        <p:nvCxnSpPr>
          <p:cNvPr id="21" name="Straight Connector 20">
            <a:extLst>
              <a:ext uri="{FF2B5EF4-FFF2-40B4-BE49-F238E27FC236}">
                <a16:creationId xmlns:a16="http://schemas.microsoft.com/office/drawing/2014/main" id="{503FCC9E-47A2-69B7-68E7-7FA95EAD538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21680" y="5662526"/>
            <a:ext cx="548640" cy="0"/>
          </a:xfrm>
          <a:prstGeom prst="line">
            <a:avLst/>
          </a:prstGeom>
          <a:ln w="571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921502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92B06-3ACD-6E2D-CCD3-3D8224D8327B}"/>
              </a:ext>
            </a:extLst>
          </p:cNvPr>
          <p:cNvSpPr>
            <a:spLocks noGrp="1"/>
          </p:cNvSpPr>
          <p:nvPr>
            <p:ph type="title"/>
          </p:nvPr>
        </p:nvSpPr>
        <p:spPr>
          <a:solidFill>
            <a:schemeClr val="accent1"/>
          </a:solidFill>
        </p:spPr>
        <p:txBody>
          <a:bodyPr>
            <a:normAutofit fontScale="90000"/>
          </a:bodyPr>
          <a:lstStyle/>
          <a:p>
            <a:r>
              <a:rPr lang="en-IN" b="0" dirty="0">
                <a:solidFill>
                  <a:schemeClr val="bg1"/>
                </a:solidFill>
              </a:rPr>
              <a:t>Datasets Description</a:t>
            </a:r>
            <a:br>
              <a:rPr lang="en-IN" b="0" dirty="0"/>
            </a:br>
            <a:endParaRPr lang="en-IN" dirty="0"/>
          </a:p>
        </p:txBody>
      </p:sp>
      <p:sp>
        <p:nvSpPr>
          <p:cNvPr id="3" name="TextBox 2">
            <a:extLst>
              <a:ext uri="{FF2B5EF4-FFF2-40B4-BE49-F238E27FC236}">
                <a16:creationId xmlns:a16="http://schemas.microsoft.com/office/drawing/2014/main" id="{A27AEFA8-0F62-52BF-D5B7-EF6AED7936D6}"/>
              </a:ext>
            </a:extLst>
          </p:cNvPr>
          <p:cNvSpPr txBox="1"/>
          <p:nvPr/>
        </p:nvSpPr>
        <p:spPr>
          <a:xfrm>
            <a:off x="640079" y="2788920"/>
            <a:ext cx="10890929" cy="1200329"/>
          </a:xfrm>
          <a:prstGeom prst="rect">
            <a:avLst/>
          </a:prstGeom>
          <a:noFill/>
        </p:spPr>
        <p:txBody>
          <a:bodyPr wrap="square" rtlCol="0">
            <a:spAutoFit/>
          </a:bodyPr>
          <a:lstStyle/>
          <a:p>
            <a:pPr marL="285750" indent="-285750">
              <a:buFont typeface="Arial" panose="020B0604020202020204" pitchFamily="34" charset="0"/>
              <a:buChar char="•"/>
            </a:pPr>
            <a:r>
              <a:rPr lang="en-US" dirty="0"/>
              <a:t>Collection of over 500 real-world chat messages from customer support scenarios.</a:t>
            </a:r>
          </a:p>
          <a:p>
            <a:pPr marL="285750" indent="-285750">
              <a:buFont typeface="Arial" panose="020B0604020202020204" pitchFamily="34" charset="0"/>
              <a:buChar char="•"/>
            </a:pPr>
            <a:r>
              <a:rPr lang="en-US" dirty="0"/>
              <a:t>Data includes timestamps, sender roles, and conversational content.</a:t>
            </a:r>
          </a:p>
          <a:p>
            <a:pPr marL="285750" indent="-285750">
              <a:buFont typeface="Arial" panose="020B0604020202020204" pitchFamily="34" charset="0"/>
              <a:buChar char="•"/>
            </a:pPr>
            <a:r>
              <a:rPr lang="en-US" dirty="0"/>
              <a:t>Preprocessing involves cleaning, removing sensitive info, and normalizing case.</a:t>
            </a:r>
          </a:p>
          <a:p>
            <a:endParaRPr lang="en-IN" dirty="0"/>
          </a:p>
        </p:txBody>
      </p:sp>
    </p:spTree>
    <p:extLst>
      <p:ext uri="{BB962C8B-B14F-4D97-AF65-F5344CB8AC3E}">
        <p14:creationId xmlns:p14="http://schemas.microsoft.com/office/powerpoint/2010/main" val="23200436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BA4FDDF-F59C-428B-8603-3A86D75931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9AE2764D-E1C7-4C0E-A5A4-12411550AB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90600" y="5865398"/>
            <a:ext cx="10221540"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7F9E89B2-A613-66B4-A86D-15C3DA49A306}"/>
              </a:ext>
            </a:extLst>
          </p:cNvPr>
          <p:cNvPicPr>
            <a:picLocks noChangeAspect="1"/>
          </p:cNvPicPr>
          <p:nvPr/>
        </p:nvPicPr>
        <p:blipFill>
          <a:blip r:embed="rId2"/>
          <a:stretch>
            <a:fillRect/>
          </a:stretch>
        </p:blipFill>
        <p:spPr>
          <a:xfrm>
            <a:off x="2744101" y="133350"/>
            <a:ext cx="6703797" cy="5419724"/>
          </a:xfrm>
          <a:prstGeom prst="rect">
            <a:avLst/>
          </a:prstGeom>
        </p:spPr>
      </p:pic>
    </p:spTree>
    <p:extLst>
      <p:ext uri="{BB962C8B-B14F-4D97-AF65-F5344CB8AC3E}">
        <p14:creationId xmlns:p14="http://schemas.microsoft.com/office/powerpoint/2010/main" val="1609177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BA4FDDF-F59C-428B-8603-3A86D75931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9AE2764D-E1C7-4C0E-A5A4-12411550AB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90600" y="5865398"/>
            <a:ext cx="10221540"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7C0F5B23-FD7C-621E-226C-9DD07D59722A}"/>
              </a:ext>
            </a:extLst>
          </p:cNvPr>
          <p:cNvPicPr>
            <a:picLocks noChangeAspect="1"/>
          </p:cNvPicPr>
          <p:nvPr/>
        </p:nvPicPr>
        <p:blipFill>
          <a:blip r:embed="rId2"/>
          <a:stretch>
            <a:fillRect/>
          </a:stretch>
        </p:blipFill>
        <p:spPr>
          <a:xfrm>
            <a:off x="2826423" y="418099"/>
            <a:ext cx="6348653" cy="5029200"/>
          </a:xfrm>
          <a:prstGeom prst="rect">
            <a:avLst/>
          </a:prstGeom>
        </p:spPr>
      </p:pic>
    </p:spTree>
    <p:extLst>
      <p:ext uri="{BB962C8B-B14F-4D97-AF65-F5344CB8AC3E}">
        <p14:creationId xmlns:p14="http://schemas.microsoft.com/office/powerpoint/2010/main" val="6159479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F40BB-E994-B516-F01C-C392F0AF4F0A}"/>
              </a:ext>
            </a:extLst>
          </p:cNvPr>
          <p:cNvSpPr>
            <a:spLocks noGrp="1"/>
          </p:cNvSpPr>
          <p:nvPr>
            <p:ph type="title"/>
          </p:nvPr>
        </p:nvSpPr>
        <p:spPr>
          <a:solidFill>
            <a:schemeClr val="accent1"/>
          </a:solidFill>
        </p:spPr>
        <p:txBody>
          <a:bodyPr/>
          <a:lstStyle/>
          <a:p>
            <a:r>
              <a:rPr lang="en-US" dirty="0">
                <a:solidFill>
                  <a:schemeClr val="bg1"/>
                </a:solidFill>
              </a:rPr>
              <a:t>Result</a:t>
            </a:r>
            <a:endParaRPr lang="en-IN" dirty="0">
              <a:solidFill>
                <a:schemeClr val="bg1"/>
              </a:solidFill>
            </a:endParaRPr>
          </a:p>
        </p:txBody>
      </p:sp>
      <p:pic>
        <p:nvPicPr>
          <p:cNvPr id="6" name="Picture 5">
            <a:extLst>
              <a:ext uri="{FF2B5EF4-FFF2-40B4-BE49-F238E27FC236}">
                <a16:creationId xmlns:a16="http://schemas.microsoft.com/office/drawing/2014/main" id="{7206304A-A03C-9FF5-17A2-25821BD425C7}"/>
              </a:ext>
            </a:extLst>
          </p:cNvPr>
          <p:cNvPicPr>
            <a:picLocks noChangeAspect="1"/>
          </p:cNvPicPr>
          <p:nvPr/>
        </p:nvPicPr>
        <p:blipFill>
          <a:blip r:embed="rId2"/>
          <a:stretch>
            <a:fillRect/>
          </a:stretch>
        </p:blipFill>
        <p:spPr>
          <a:xfrm>
            <a:off x="640079" y="2676525"/>
            <a:ext cx="5455921" cy="3962400"/>
          </a:xfrm>
          <a:prstGeom prst="rect">
            <a:avLst/>
          </a:prstGeom>
        </p:spPr>
      </p:pic>
      <p:pic>
        <p:nvPicPr>
          <p:cNvPr id="8" name="Picture 7">
            <a:extLst>
              <a:ext uri="{FF2B5EF4-FFF2-40B4-BE49-F238E27FC236}">
                <a16:creationId xmlns:a16="http://schemas.microsoft.com/office/drawing/2014/main" id="{CC430625-69FC-514A-82FF-AD9F67CE3EC2}"/>
              </a:ext>
            </a:extLst>
          </p:cNvPr>
          <p:cNvPicPr>
            <a:picLocks noChangeAspect="1"/>
          </p:cNvPicPr>
          <p:nvPr/>
        </p:nvPicPr>
        <p:blipFill>
          <a:blip r:embed="rId3"/>
          <a:stretch>
            <a:fillRect/>
          </a:stretch>
        </p:blipFill>
        <p:spPr>
          <a:xfrm>
            <a:off x="6096001" y="2676525"/>
            <a:ext cx="5435008" cy="3962400"/>
          </a:xfrm>
          <a:prstGeom prst="rect">
            <a:avLst/>
          </a:prstGeom>
        </p:spPr>
      </p:pic>
    </p:spTree>
    <p:extLst>
      <p:ext uri="{BB962C8B-B14F-4D97-AF65-F5344CB8AC3E}">
        <p14:creationId xmlns:p14="http://schemas.microsoft.com/office/powerpoint/2010/main" val="472912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1BD6D-E390-E79B-3220-BD8A0B658C8F}"/>
              </a:ext>
            </a:extLst>
          </p:cNvPr>
          <p:cNvSpPr>
            <a:spLocks noGrp="1"/>
          </p:cNvSpPr>
          <p:nvPr>
            <p:ph type="title"/>
          </p:nvPr>
        </p:nvSpPr>
        <p:spPr>
          <a:solidFill>
            <a:schemeClr val="accent1"/>
          </a:solidFill>
        </p:spPr>
        <p:txBody>
          <a:bodyPr>
            <a:normAutofit fontScale="90000"/>
          </a:bodyPr>
          <a:lstStyle/>
          <a:p>
            <a:r>
              <a:rPr lang="en-IN" b="0" dirty="0">
                <a:solidFill>
                  <a:schemeClr val="bg1"/>
                </a:solidFill>
              </a:rPr>
              <a:t>Comparison with Existing Models</a:t>
            </a:r>
            <a:br>
              <a:rPr lang="en-IN" b="0" dirty="0"/>
            </a:br>
            <a:endParaRPr lang="en-IN" dirty="0"/>
          </a:p>
        </p:txBody>
      </p:sp>
      <p:graphicFrame>
        <p:nvGraphicFramePr>
          <p:cNvPr id="4" name="Table 3">
            <a:extLst>
              <a:ext uri="{FF2B5EF4-FFF2-40B4-BE49-F238E27FC236}">
                <a16:creationId xmlns:a16="http://schemas.microsoft.com/office/drawing/2014/main" id="{DF450A60-5B80-2D78-7051-83158C9FCC28}"/>
              </a:ext>
            </a:extLst>
          </p:cNvPr>
          <p:cNvGraphicFramePr>
            <a:graphicFrameLocks noGrp="1"/>
          </p:cNvGraphicFramePr>
          <p:nvPr/>
        </p:nvGraphicFramePr>
        <p:xfrm>
          <a:off x="639763" y="2922905"/>
          <a:ext cx="10891836" cy="2987040"/>
        </p:xfrm>
        <a:graphic>
          <a:graphicData uri="http://schemas.openxmlformats.org/drawingml/2006/table">
            <a:tbl>
              <a:tblPr/>
              <a:tblGrid>
                <a:gridCol w="3630612">
                  <a:extLst>
                    <a:ext uri="{9D8B030D-6E8A-4147-A177-3AD203B41FA5}">
                      <a16:colId xmlns:a16="http://schemas.microsoft.com/office/drawing/2014/main" val="368078215"/>
                    </a:ext>
                  </a:extLst>
                </a:gridCol>
                <a:gridCol w="3630612">
                  <a:extLst>
                    <a:ext uri="{9D8B030D-6E8A-4147-A177-3AD203B41FA5}">
                      <a16:colId xmlns:a16="http://schemas.microsoft.com/office/drawing/2014/main" val="2194135963"/>
                    </a:ext>
                  </a:extLst>
                </a:gridCol>
                <a:gridCol w="3630612">
                  <a:extLst>
                    <a:ext uri="{9D8B030D-6E8A-4147-A177-3AD203B41FA5}">
                      <a16:colId xmlns:a16="http://schemas.microsoft.com/office/drawing/2014/main" val="2440698417"/>
                    </a:ext>
                  </a:extLst>
                </a:gridCol>
              </a:tblGrid>
              <a:tr h="0">
                <a:tc>
                  <a:txBody>
                    <a:bodyPr/>
                    <a:lstStyle/>
                    <a:p>
                      <a:pPr algn="l">
                        <a:buNone/>
                      </a:pPr>
                      <a:r>
                        <a:rPr lang="en-IN" b="1">
                          <a:effectLst/>
                        </a:rPr>
                        <a:t>Feature</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l">
                        <a:buNone/>
                      </a:pPr>
                      <a:r>
                        <a:rPr lang="en-IN" b="1">
                          <a:effectLst/>
                        </a:rPr>
                        <a:t>Emoji Compression</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l">
                        <a:buNone/>
                      </a:pPr>
                      <a:r>
                        <a:rPr lang="en-IN" b="1">
                          <a:effectLst/>
                        </a:rPr>
                        <a:t>Huffman Coding</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extLst>
                  <a:ext uri="{0D108BD9-81ED-4DB2-BD59-A6C34878D82A}">
                    <a16:rowId xmlns:a16="http://schemas.microsoft.com/office/drawing/2014/main" val="2049400984"/>
                  </a:ext>
                </a:extLst>
              </a:tr>
              <a:tr h="0">
                <a:tc>
                  <a:txBody>
                    <a:bodyPr/>
                    <a:lstStyle/>
                    <a:p>
                      <a:pPr algn="l">
                        <a:buNone/>
                      </a:pPr>
                      <a:r>
                        <a:rPr lang="en-IN">
                          <a:effectLst/>
                        </a:rPr>
                        <a:t>Compression Level</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en-IN">
                          <a:effectLst/>
                        </a:rPr>
                        <a:t>Phrase/word</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en-IN">
                          <a:effectLst/>
                        </a:rPr>
                        <a:t>Character</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881024008"/>
                  </a:ext>
                </a:extLst>
              </a:tr>
              <a:tr h="0">
                <a:tc>
                  <a:txBody>
                    <a:bodyPr/>
                    <a:lstStyle/>
                    <a:p>
                      <a:pPr algn="l">
                        <a:buNone/>
                      </a:pPr>
                      <a:r>
                        <a:rPr lang="en-IN">
                          <a:effectLst/>
                        </a:rPr>
                        <a:t>Readable Output</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en-IN">
                          <a:effectLst/>
                        </a:rPr>
                        <a:t>Yes</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en-IN">
                          <a:effectLst/>
                        </a:rPr>
                        <a:t>No</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1692171517"/>
                  </a:ext>
                </a:extLst>
              </a:tr>
              <a:tr h="0">
                <a:tc>
                  <a:txBody>
                    <a:bodyPr/>
                    <a:lstStyle/>
                    <a:p>
                      <a:pPr algn="l">
                        <a:buNone/>
                      </a:pPr>
                      <a:r>
                        <a:rPr lang="en-IN">
                          <a:effectLst/>
                        </a:rPr>
                        <a:t>Semantic Meaning</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en-IN">
                          <a:effectLst/>
                        </a:rPr>
                        <a:t>Preserved</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en-IN">
                          <a:effectLst/>
                        </a:rPr>
                        <a:t>Not preserved</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2634434481"/>
                  </a:ext>
                </a:extLst>
              </a:tr>
              <a:tr h="0">
                <a:tc>
                  <a:txBody>
                    <a:bodyPr/>
                    <a:lstStyle/>
                    <a:p>
                      <a:pPr algn="l">
                        <a:buNone/>
                      </a:pPr>
                      <a:r>
                        <a:rPr lang="en-IN">
                          <a:effectLst/>
                        </a:rPr>
                        <a:t>Adaptability</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en-IN">
                          <a:effectLst/>
                        </a:rPr>
                        <a:t>Dynamic/automatic</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en-IN">
                          <a:effectLst/>
                        </a:rPr>
                        <a:t>Static</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3238067263"/>
                  </a:ext>
                </a:extLst>
              </a:tr>
              <a:tr h="0">
                <a:tc>
                  <a:txBody>
                    <a:bodyPr/>
                    <a:lstStyle/>
                    <a:p>
                      <a:pPr algn="l">
                        <a:buNone/>
                      </a:pPr>
                      <a:r>
                        <a:rPr lang="en-IN">
                          <a:effectLst/>
                        </a:rPr>
                        <a:t>Use Case</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en-IN">
                          <a:effectLst/>
                        </a:rPr>
                        <a:t>Chat/conversational</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en-IN">
                          <a:effectLst/>
                        </a:rPr>
                        <a:t>General</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3039778289"/>
                  </a:ext>
                </a:extLst>
              </a:tr>
              <a:tr h="0">
                <a:tc>
                  <a:txBody>
                    <a:bodyPr/>
                    <a:lstStyle/>
                    <a:p>
                      <a:pPr algn="l">
                        <a:buNone/>
                      </a:pPr>
                      <a:r>
                        <a:rPr lang="en-IN">
                          <a:effectLst/>
                        </a:rPr>
                        <a:t>Reversibility</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en-IN">
                          <a:effectLst/>
                        </a:rPr>
                        <a:t>Yes</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en-IN" dirty="0">
                          <a:effectLst/>
                        </a:rPr>
                        <a:t>Yes</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4274905564"/>
                  </a:ext>
                </a:extLst>
              </a:tr>
            </a:tbl>
          </a:graphicData>
        </a:graphic>
      </p:graphicFrame>
    </p:spTree>
    <p:extLst>
      <p:ext uri="{BB962C8B-B14F-4D97-AF65-F5344CB8AC3E}">
        <p14:creationId xmlns:p14="http://schemas.microsoft.com/office/powerpoint/2010/main" val="21289369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F2FCE-DD4C-33CF-F6FD-E509CD62ED16}"/>
              </a:ext>
            </a:extLst>
          </p:cNvPr>
          <p:cNvSpPr>
            <a:spLocks noGrp="1"/>
          </p:cNvSpPr>
          <p:nvPr>
            <p:ph type="title"/>
          </p:nvPr>
        </p:nvSpPr>
        <p:spPr>
          <a:solidFill>
            <a:schemeClr val="accent1"/>
          </a:solidFill>
        </p:spPr>
        <p:txBody>
          <a:bodyPr/>
          <a:lstStyle/>
          <a:p>
            <a:r>
              <a:rPr lang="en-US" dirty="0">
                <a:solidFill>
                  <a:schemeClr val="bg1"/>
                </a:solidFill>
              </a:rPr>
              <a:t>Conclusion</a:t>
            </a:r>
            <a:endParaRPr lang="en-IN" dirty="0">
              <a:solidFill>
                <a:schemeClr val="bg1"/>
              </a:solidFill>
            </a:endParaRPr>
          </a:p>
        </p:txBody>
      </p:sp>
      <p:sp>
        <p:nvSpPr>
          <p:cNvPr id="3" name="TextBox 2">
            <a:extLst>
              <a:ext uri="{FF2B5EF4-FFF2-40B4-BE49-F238E27FC236}">
                <a16:creationId xmlns:a16="http://schemas.microsoft.com/office/drawing/2014/main" id="{0B724BFA-AFEB-8A91-BB94-89EF0D98E17E}"/>
              </a:ext>
            </a:extLst>
          </p:cNvPr>
          <p:cNvSpPr txBox="1"/>
          <p:nvPr/>
        </p:nvSpPr>
        <p:spPr>
          <a:xfrm>
            <a:off x="640079" y="2971800"/>
            <a:ext cx="10890929" cy="2585323"/>
          </a:xfrm>
          <a:prstGeom prst="rect">
            <a:avLst/>
          </a:prstGeom>
          <a:noFill/>
        </p:spPr>
        <p:txBody>
          <a:bodyPr wrap="square" rtlCol="0">
            <a:spAutoFit/>
          </a:bodyPr>
          <a:lstStyle/>
          <a:p>
            <a:r>
              <a:rPr lang="en-US" dirty="0"/>
              <a:t>The emoji-based text compression framework presents a novel, human-readable approach to compressing conversational chat data by substituting frequently used phrases with semantically meaningful emoji tokens. This method combines a static seed dictionary with dynamic dictionary learning to adapt to specific datasets, resulting in significant data size reduction without loss of meaning or readability. Unlike traditional algorithms such as Huffman coding, this model operates at the phrase level, preserving semantic context and enabling easy, reversible decompression. The approach demonstrates both scalability and practical usability for real-time chat applications, offering valuable improvements for text storage, transmission efficiency, and user experience. Future enhancements could explore multilingual adaptability and integration of hybrid compression models for even greater efficiency.</a:t>
            </a:r>
            <a:endParaRPr lang="en-IN" dirty="0"/>
          </a:p>
        </p:txBody>
      </p:sp>
    </p:spTree>
    <p:extLst>
      <p:ext uri="{BB962C8B-B14F-4D97-AF65-F5344CB8AC3E}">
        <p14:creationId xmlns:p14="http://schemas.microsoft.com/office/powerpoint/2010/main" val="1065160992"/>
      </p:ext>
    </p:extLst>
  </p:cSld>
  <p:clrMapOvr>
    <a:masterClrMapping/>
  </p:clrMapOvr>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docProps/app.xml><?xml version="1.0" encoding="utf-8"?>
<Properties xmlns="http://schemas.openxmlformats.org/officeDocument/2006/extended-properties" xmlns:vt="http://schemas.openxmlformats.org/officeDocument/2006/docPropsVTypes">
  <TotalTime>51</TotalTime>
  <Words>535</Words>
  <Application>Microsoft Office PowerPoint</Application>
  <PresentationFormat>Widescreen</PresentationFormat>
  <Paragraphs>61</Paragraphs>
  <Slides>13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Grandview Display</vt:lpstr>
      <vt:lpstr>DashVTI</vt:lpstr>
      <vt:lpstr>Emoji-Based Text Compression</vt:lpstr>
      <vt:lpstr>Abstract </vt:lpstr>
      <vt:lpstr>Problem Description </vt:lpstr>
      <vt:lpstr>Scope </vt:lpstr>
      <vt:lpstr>Objectives </vt:lpstr>
      <vt:lpstr>Methodology/Algorithm </vt:lpstr>
      <vt:lpstr>Architecture Diagram</vt:lpstr>
      <vt:lpstr>Datasets Description </vt:lpstr>
      <vt:lpstr>PowerPoint Presentation</vt:lpstr>
      <vt:lpstr>PowerPoint Presentation</vt:lpstr>
      <vt:lpstr>Result</vt:lpstr>
      <vt:lpstr>Comparison with Existing Models </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guru prasath</dc:creator>
  <cp:lastModifiedBy>guru prasath</cp:lastModifiedBy>
  <cp:revision>3</cp:revision>
  <dcterms:created xsi:type="dcterms:W3CDTF">2025-11-12T11:26:50Z</dcterms:created>
  <dcterms:modified xsi:type="dcterms:W3CDTF">2025-11-14T04:20:39Z</dcterms:modified>
</cp:coreProperties>
</file>